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77440"/>
            <a:ext cx="12191695" cy="73152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</a:rPr>
              <a:t>CFE + EnKF Data Assimilation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E69F00"/>
                </a:solidFill>
              </a:rPr>
              <a:t>Ensemble Flood Forecasting During Hurricane Helene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CCCCCC"/>
                </a:solidFill>
              </a:rPr>
              <a:t>USGS Gauge 03463300  |  South Toe River Near Celo, NC  |  September 2024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47472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CCCCCC"/>
                </a:solidFill>
              </a:rPr>
              <a:t>CFE BMI  ·  EnKF (Vrugt dynamic R)  ·  T-route Muskingum-Cunge routing  ·  600-member crossed ensemble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217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CCCCCC"/>
                </a:solidFill>
              </a:rPr>
              <a:t>CIROH DocHub  | 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Experiment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CFE hydrological model + Ensemble Kalman Filter DA → T-route gauge routing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Study site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8960" y="10972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USGS 03463300 – South Toe River Near Celo, NC  |  Watershed area 113.18 km²  |  21 NWM catchments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373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Event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73736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Hurricane Helene (Sep 24–29, 2024)  —  extreme flooding in the Southern Appalachians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774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DA 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37744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EnKF with dynamic Vrugt heteroscedastic R:  R = (α·y)² + 0.001·σ²_krig,  α = 0.10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17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Ensemble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01752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600-member crossed ensemble: 30 forcing draws × 20 hydro-state draws  → fully separable uncertainty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5760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Routing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365760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T-route Muskingum-Cunge (compute_network_structured)  →  terminal reach wb-1016283 at gauge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9768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▸  Evaluation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4297680"/>
            <a:ext cx="8686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4a: Vrugt R comparison · 4b: Ensemble routing · 4c: 18-hr lead-time forecasts · 3-way DA vs Qkrig vs USGS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4a: Vrugt Dynamic R — Grid Search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Best-fit α selected by KGE across full test period and Helene window</a:t>
            </a:r>
          </a:p>
        </p:txBody>
      </p:sp>
      <p:pic>
        <p:nvPicPr>
          <p:cNvPr id="5" name="Picture 4" descr="helene_da_v2_vrugt_vs_run3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130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30936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E69F00"/>
                </a:solidFill>
              </a:rPr>
              <a:t>Dynamic R = (α · y)² + 0.001 · σ²_krig    α = 0.10 selected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4a: Vrugt R — Helene Window Zoom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DA with α = 0.10 captures rising limb; both methods underestimate peak due to NWM forcing</a:t>
            </a:r>
          </a:p>
        </p:txBody>
      </p:sp>
      <p:pic>
        <p:nvPicPr>
          <p:cNvPr id="5" name="Picture 4" descr="helene_da_v2_vrugt_vs_run3_grid_zoom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01541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4a: KGE Summary Table — Vrugt α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Columns: α value  |  Rows: full period / Helene window KGE</a:t>
            </a:r>
          </a:p>
        </p:txBody>
      </p:sp>
      <p:pic>
        <p:nvPicPr>
          <p:cNvPr id="5" name="Picture 4" descr="da_v2_vrugt_kge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097280"/>
            <a:ext cx="9418320" cy="1367571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Perturbation Category Sensitivity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Shaded min-max bands: initial states (red) · meteorological forcings (blue) · hydrological states (green)</a:t>
            </a:r>
          </a:p>
        </p:txBody>
      </p:sp>
      <p:pic>
        <p:nvPicPr>
          <p:cNvPr id="5" name="Picture 4" descr="cat-1016300_perturbation_categories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005840"/>
            <a:ext cx="11795760" cy="414575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</a:rPr>
              <a:t>DA off in all sub-experiments  |  20 members each  |  N=20 per category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2a: Forcing Arm — Meteorological Uncertainty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30 members  |  Lognormal precip σ = 15%  |  Normal PET σ = 10%  |  DA on</a:t>
            </a:r>
          </a:p>
        </p:txBody>
      </p:sp>
      <p:pic>
        <p:nvPicPr>
          <p:cNvPr id="5" name="Picture 4" descr="cat-1016300_2a_forcing_arm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04430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2b: Hydro-State Arm — Initial State Uncertainty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20 members  |  5% multiplicative state perturbation  |  DA on</a:t>
            </a:r>
          </a:p>
        </p:txBody>
      </p:sp>
      <p:pic>
        <p:nvPicPr>
          <p:cNvPr id="5" name="Picture 4" descr="cat-1016300_2b_hydro_arm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04430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2a vs 2b: Which Uncertainty Source Dominates?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Side-by-side arm comparison during Helene window</a:t>
            </a:r>
          </a:p>
        </p:txBody>
      </p:sp>
      <p:pic>
        <p:nvPicPr>
          <p:cNvPr id="5" name="Picture 4" descr="cat-1016300_2ab_arm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72846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Forcing uncertainty (2a) dominates spread during peak  |  State uncertainty (2b) contributes to rising/falling limb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4b: 600-Member Crossed Ensemble — Production Forecast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30 forcing × 20 hydro-state = 600 members  |  Routed to USGS gauge via T-route</a:t>
            </a:r>
          </a:p>
        </p:txBody>
      </p:sp>
      <p:pic>
        <p:nvPicPr>
          <p:cNvPr id="5" name="Picture 4" descr="cat-1016300_production_ensemble_forecast_line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06323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4b: Ensemble Routing at Gauge 03463300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Ensemble band (5–95 pct) + median vs USGS obs  |  Helene window highlighted</a:t>
            </a:r>
          </a:p>
        </p:txBody>
      </p:sp>
      <p:pic>
        <p:nvPicPr>
          <p:cNvPr id="5" name="Picture 4" descr="helene_ensemble_vs_us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75317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DA ensemble brackets the USGS peak  |  Median underestimates due to NWM forcing underestimate of Helene precip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4b: Full Period + Helene Zoom — Routed Ensemble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Top: full test period  |  Bottom: Helene Sep 24–29 zoom</a:t>
            </a:r>
          </a:p>
        </p:txBody>
      </p:sp>
      <p:pic>
        <p:nvPicPr>
          <p:cNvPr id="5" name="Picture 4" descr="helene_ensemble_two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743358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4c: Lead-Time Forecasts — Spaghetti Plot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18 forecast cycles × 20 ensemble members  |  DA vs Open-loop  |  Helene window</a:t>
            </a:r>
          </a:p>
        </p:txBody>
      </p:sp>
      <p:pic>
        <p:nvPicPr>
          <p:cNvPr id="5" name="Picture 4" descr="forecast_spaghetti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819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Each ribbon = one 18-hr forecast cycle issued during Helene  |  DA (color) tighter than OL (grey) near peak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4c: Reconstructed Timeseries — Full Test Period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All lead-time forecasts overlaid; ensemble mean vs USGS obs  |  NSE DA=0.437 vs OL=0.318</a:t>
            </a:r>
          </a:p>
        </p:txBody>
      </p:sp>
      <p:pic>
        <p:nvPicPr>
          <p:cNvPr id="5" name="Picture 4" descr="lead_time_reconstructed_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907478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4c: Reconstructed Timeseries — Helene Zoom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NSE DA=0.339  OL=0.198  |  DA adds +0.14 NSE  |  Sep 24–29</a:t>
            </a:r>
          </a:p>
        </p:txBody>
      </p:sp>
      <p:pic>
        <p:nvPicPr>
          <p:cNvPr id="5" name="Picture 4" descr="lead_time_reconstructed_timeseries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474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DA consistently outperforms open-loop across all leads during the Helene peak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4c: Forecast Error Decay vs Lead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Fixed verification time view  |  Lead 1 = 1 hr before target  |  Lead 18 = 18 hr before target</a:t>
            </a:r>
          </a:p>
        </p:txBody>
      </p:sp>
      <p:pic>
        <p:nvPicPr>
          <p:cNvPr id="5" name="Picture 4" descr="error_fixed_target_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529443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DA error (purple) decays toward zero faster than OL (grey)  |  DA retains skill out to ~12 hr lead time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Three-Way Comparison: DA vs Qkrig vs USGS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Does DA add value beyond simply routing the Qkrig observations?</a:t>
            </a:r>
          </a:p>
        </p:txBody>
      </p:sp>
      <p:pic>
        <p:nvPicPr>
          <p:cNvPr id="5" name="Picture 4" descr="da_vs_qkrig_vs_us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69292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17220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Full period: Qkrig-routed KGE=0.320, DA-routed KGE=0.277  |  DA's value is in the 18-hr forecast window (leads 1–18), not in the analysis step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R-Formula Comparison — All 4 Experiments (Full Period)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F1 Vrugt (best) · F2 R=0.07 · F3 Dyn Vrugt seeded · F4 Direct σ²  |  at gauge 03463300</a:t>
            </a:r>
          </a:p>
        </p:txBody>
      </p:sp>
      <p:pic>
        <p:nvPicPr>
          <p:cNvPr id="5" name="Picture 4" descr="compare_all_folder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5789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Vrugt R (F1) consistently outperforms fixed or direct-variance R  |  Peak underestimate is a NWM forcing issue, not R-formula dependent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R-Formula Comparison — Helene Window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F1 KGE=0.213 · F2 KGE=0.439 · F3 KGE=0.189 · F4 KGE=0.132  |  Fixed R=0.07 best at peak</a:t>
            </a:r>
          </a:p>
        </p:txBody>
      </p:sp>
      <p:pic>
        <p:nvPicPr>
          <p:cNvPr id="5" name="Picture 4" descr="compare_all_folders_hele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45789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Fixed R=0.07 (F2) keeps Kalman gain high at peak — Vrugt inflates R at high flows, dampening DA updates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F3: Forecast Error Decay — Dynamic Vrugt Seeded (seed=42)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R = (0.10·y)² + 0.001·σ²_krig  |  Pooled across all regimes  |  Helene window</a:t>
            </a:r>
          </a:p>
        </p:txBody>
      </p:sp>
      <p:pic>
        <p:nvPicPr>
          <p:cNvPr id="5" name="Picture 4" descr="f3_lead_time_decay_gauge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115468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F3 KGE=+0.261 (full period)  |  Helene KGE=+0.189  |  Peak 693.8 m³/s (37% of USGS 1885.7)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F3: Ensemble Routing at Gauge — Dynamic Vrugt Seeded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600-member crossed ensemble  |  5–95 pct band + median vs USGS  |  Helene window</a:t>
            </a:r>
          </a:p>
        </p:txBody>
      </p:sp>
      <p:pic>
        <p:nvPicPr>
          <p:cNvPr id="5" name="Picture 4" descr="f3_helene_ensemble_two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74335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p95=759 m³/s, p50=484 m³/s  |  Vrugt R grows at high flows, narrowing spread near peak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F4: Forecast Error Decay — Direct σ²_krig (seed=42)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R = σ²_krig directly (no Vrugt formula)  |  Pooled across all regimes</a:t>
            </a:r>
          </a:p>
        </p:txBody>
      </p:sp>
      <p:pic>
        <p:nvPicPr>
          <p:cNvPr id="5" name="Picture 4" descr="f4_lead_time_decay_gauge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1154689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F4 KGE=+0.200 (full period)  |  Helene KGE=+0.132  |  Peak 667.9 m³/s (35% of USGS 1885.7)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F4: Ensemble Routing at Gauge — Direct σ²_krig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600-member crossed ensemble  |  5–95 pct band + median vs USGS  |  Helene window</a:t>
            </a:r>
          </a:p>
        </p:txBody>
      </p:sp>
      <p:pic>
        <p:nvPicPr>
          <p:cNvPr id="5" name="Picture 4" descr="f4_helene_ensemble_two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743358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74320" y="62636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E69F00"/>
                </a:solidFill>
              </a:rPr>
              <a:t>p95=744 m³/s, p50=552 m³/s  |  Large σ²_krig collapses Kalman gain — worst performer across all metrics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Sensitivity Ensemble — Spaghetti (All Catchments)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164305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69F00"/>
                </a:solidFill>
              </a:rPr>
              <a:t>Each thin line = one catchment ensemble trajectory  |  Helene window</a:t>
            </a:r>
          </a:p>
        </p:txBody>
      </p:sp>
      <p:pic>
        <p:nvPicPr>
          <p:cNvPr id="5" name="Picture 4" descr="helene_sensitivity_spaghetti_m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05840"/>
            <a:ext cx="11612880" cy="3338973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3C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64305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Summary &amp; Key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</a:rPr>
              <a:t>1. DA improves forecasts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0" y="10972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EnKF DA with dynamic Vrugt R (α=0.10) adds +0.12 to +0.14 NSE over open-loop during Helene peak — skill retained out to ~12 hr lead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55648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5BD8FF"/>
                </a:solidFill>
              </a:rPr>
              <a:t>2. Peak underestimation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1755648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Both DA-routed and Qkrig-routed underestimate Helene peak by ~2.5× — root cause is NWM forcing underestimating extreme precipitation, not the DA 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414016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7BFF8A"/>
                </a:solidFill>
              </a:rPr>
              <a:t>3. DA vs Qkrig routing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414016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Routing Qkrig obs directly gives slightly higher KGE (0.320 vs 0.277) than DA in hindcast — DA's advantage is in operational forecasting 1–18 hr ahead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072384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7B7B"/>
                </a:solidFill>
              </a:rPr>
              <a:t>4. Ensemble spread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0" y="3072384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Forcing uncertainty (2a) dominates spread at peak; hydro-state uncertainty (2b) shapes the rising/falling limbs — 600-member crossed ensemble captures this cleanly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730752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CCCCC"/>
                </a:solidFill>
              </a:rPr>
              <a:t>5. Reproducibility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73075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</a:rPr>
              <a:t>All 600 ensemble members are fully traceable via member_manifest.csv and provenance parquets (da_snapshots, hydro_draw_states, forcing_draw_sequences)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CCCCCC"/>
                </a:solidFill>
              </a:rPr>
              <a:t>Code: github.com/DualEarth/cfe_DA_bmi  (branch: feature/da-v2-enkf)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